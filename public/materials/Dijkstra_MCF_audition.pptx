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92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44968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91856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38744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85632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44968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991856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38744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85632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732520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0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44968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91856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38744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85632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732520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0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44968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991856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38744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85632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732520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147447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 ·  COMPUTER SCIENCE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188595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in a Directed Weighted Graph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40080" y="270891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Dijkstra's Algorithm through Problem-Based Inductive Learning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640080" y="3348990"/>
            <a:ext cx="54864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53187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0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SESSION PRESENTED FOR THE MCF AUDITION</a:t>
            </a:r>
            <a:endParaRPr lang="en-US" sz="10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640080" y="4759452"/>
            <a:ext cx="786384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72400" y="47960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SESSION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at a glance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417320"/>
            <a:ext cx="2606040" cy="54864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6184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700784"/>
            <a:ext cx="338328" cy="3383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1618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" y="21945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Master students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918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1417320"/>
            <a:ext cx="2606040" cy="54864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9" name="Shape 16"/>
          <p:cNvSpPr/>
          <p:nvPr/>
        </p:nvSpPr>
        <p:spPr>
          <a:xfrm>
            <a:off x="3493008" y="16184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700784"/>
            <a:ext cx="338328" cy="3383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160520" y="1618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493008" y="21945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493008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 delivered in English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12648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26480" y="1417320"/>
            <a:ext cx="2606040" cy="54864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26" name="Shape 22"/>
          <p:cNvSpPr/>
          <p:nvPr/>
        </p:nvSpPr>
        <p:spPr>
          <a:xfrm>
            <a:off x="6327648" y="16184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700784"/>
            <a:ext cx="338328" cy="3383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95160" y="1618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327648" y="21945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1h30 teaching session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327648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session, in-class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187452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874520" y="3063240"/>
            <a:ext cx="2606040" cy="54864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3" name="Shape 28"/>
          <p:cNvSpPr/>
          <p:nvPr/>
        </p:nvSpPr>
        <p:spPr>
          <a:xfrm>
            <a:off x="2075688" y="32644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7984" y="3346704"/>
            <a:ext cx="338328" cy="33832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2743200" y="3264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2075688" y="3840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Problem-based inductive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2075688" y="4160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formalization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470916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709160" y="3063240"/>
            <a:ext cx="2606040" cy="54864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40" name="Shape 34"/>
          <p:cNvSpPr/>
          <p:nvPr/>
        </p:nvSpPr>
        <p:spPr>
          <a:xfrm>
            <a:off x="4910328" y="32644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3346704"/>
            <a:ext cx="338328" cy="33832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577840" y="3264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4910328" y="3840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Connected-device routing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4910328" y="4160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IoT-oriented motivation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of the session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1732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90472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325880" y="15544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14904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prerequisites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1828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session fits and what students must know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77640" y="165963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490472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486400" y="15544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4904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approach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1828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Problem-based inductive teaching sequence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165963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359152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432304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1325880" y="2496312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463040" y="24323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problem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2770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 an IoT network and student activity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77640" y="26014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2359152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432304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5486400" y="2496312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5623560" y="24323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— step-by-step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23560" y="2770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walkthrough on a 5-node graph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38160" y="26014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300984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374136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1325880" y="3438144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1463040" y="33741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&amp; complexity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463040" y="37124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statement and analysis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77640" y="35433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p.17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3300984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374136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5486400" y="3438144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5623560" y="33741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applications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623560" y="37124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checks and real-world uses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38160" y="35433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3662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split — Context &amp; motivation: 25 min  ·  Execution &amp; formalization: 45 min  ·  Synthesis: 20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session, students will be able to: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406908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911096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185623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routing problem as a directed weighted graph G = (V, 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783080"/>
            <a:ext cx="406908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911096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0952" y="185623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Dijkstra's algorithm step by step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406908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78892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0432" y="27340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shortest path using the predecessor function 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660904"/>
            <a:ext cx="406908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78892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30952" y="27340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why the algorithm works for non-negative weights w(u,v)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406908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666744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70432" y="36118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applications and limitations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context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in a Directed Weighted Graph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406908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54480"/>
            <a:ext cx="4069080" cy="54864"/>
          </a:xfrm>
          <a:prstGeom prst="rect">
            <a:avLst/>
          </a:prstGeom>
          <a:solidFill>
            <a:srgbClr val="E0A82E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55648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1719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prerequisites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194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expected to know: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25146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graphs G = (V, 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vertices, edges and positive integer weights w(u,v)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lists and adjacency matrices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graph traversal (BFS, DFS)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17720" y="1554480"/>
            <a:ext cx="406908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755648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57800" y="1719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adaptation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892040" y="22402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example is contextualized through connected-device routing to make the algorithm meaningful for IoT-oriented students.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92040" y="37033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</p:sp>
      <p:sp>
        <p:nvSpPr>
          <p:cNvPr id="22" name="Text 18"/>
          <p:cNvSpPr/>
          <p:nvPr/>
        </p:nvSpPr>
        <p:spPr>
          <a:xfrm>
            <a:off x="4892040" y="3703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IoT-oriented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choice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Problem-based inductive approach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" y="150876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shortest-path algorithm is needed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91740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1740" y="150876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7" name="Text 15"/>
          <p:cNvSpPr/>
          <p:nvPr/>
        </p:nvSpPr>
        <p:spPr>
          <a:xfrm>
            <a:off x="262890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2890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intuitive strategies may fail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40580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0580" y="150876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21" name="Text 19"/>
          <p:cNvSpPr/>
          <p:nvPr/>
        </p:nvSpPr>
        <p:spPr>
          <a:xfrm>
            <a:off x="477774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7774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formal algorithm solves the problem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89420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89420" y="150876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25" name="Text 23"/>
          <p:cNvSpPr/>
          <p:nvPr/>
        </p:nvSpPr>
        <p:spPr>
          <a:xfrm>
            <a:off x="692658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2658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method transfers to realistic routing contexts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sequence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035808"/>
            <a:ext cx="365760" cy="36576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concrete routing problem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47088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22576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22576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938528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propose intuitive strategies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36976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12464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12464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28416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strategies and identify limitations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26864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02352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18304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need for a systematic algorithm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16752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92240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108192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Dijkstra's algorithm and validate it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06640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82128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128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49808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applications and limitations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problem: Connected-device routing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188720"/>
            <a:ext cx="64008" cy="548640"/>
          </a:xfrm>
          <a:prstGeom prst="rect">
            <a:avLst/>
          </a:prstGeom>
          <a:solidFill>
            <a:srgbClr val="E0A82E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188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must be sent from a source device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destination gateway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want to minimize total latency.</a:t>
            </a:r>
            <a:endParaRPr lang="en-US" sz="1300" dirty="0"/>
          </a:p>
        </p:txBody>
      </p:sp>
      <p:pic>
        <p:nvPicPr>
          <p:cNvPr id="14" name="Image 1" descr="/home/claude/iot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874520"/>
            <a:ext cx="5120640" cy="196018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02920" y="2075688"/>
            <a:ext cx="164592" cy="164592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772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sensors, devices or gateways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" y="2578608"/>
            <a:ext cx="164592" cy="164592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772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communication links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3081528"/>
            <a:ext cx="164592" cy="164592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22" name="Text 18"/>
          <p:cNvSpPr/>
          <p:nvPr/>
        </p:nvSpPr>
        <p:spPr>
          <a:xfrm>
            <a:off x="77724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7724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latency (ms)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2920" y="3584448"/>
            <a:ext cx="164592" cy="164592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25" name="Text 21"/>
          <p:cNvSpPr/>
          <p:nvPr/>
        </p:nvSpPr>
        <p:spPr>
          <a:xfrm>
            <a:off x="77724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772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latency from s to 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and student activity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164632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292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1256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STUDENTS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05840" y="15121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 should the message follow?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873335"/>
              </p:ext>
            </p:extLst>
          </p:nvPr>
        </p:nvGraphicFramePr>
        <p:xfrm>
          <a:off x="457200" y="2124752"/>
          <a:ext cx="3657600" cy="1508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 →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B →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 → C →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 → B → C →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457200" y="3907832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D9EFE1"/>
          </a:solidFill>
          <a:ln w="12700">
            <a:solidFill>
              <a:srgbClr val="2C8C5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94360" y="3980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TAKEAWAY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94360" y="4200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4-edge path is the cheapest. “Fewest hops” fails because edge weights matter.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251960" y="41592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sequence:  1. Quick vote   →   2. Pair discussion   →   3. Cost comparison   →   4. Name the failed intuition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A89047B-49DC-476E-99D7-3EF3021DE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229" y="1374596"/>
            <a:ext cx="4236350" cy="23943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INTUITION TO FORMALIZATION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intuition to Dijkstra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shows that students need to store: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91640"/>
            <a:ext cx="64008" cy="59436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known distance from s to each node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23160"/>
            <a:ext cx="64008" cy="59436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5603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predecessor of each node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54680"/>
            <a:ext cx="64008" cy="59436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154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node to process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86200"/>
            <a:ext cx="64008" cy="59436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3886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distance updates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40680" y="128016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50876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12648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5669280" y="2057400"/>
            <a:ext cx="2788920" cy="566928"/>
          </a:xfrm>
          <a:prstGeom prst="roundRect">
            <a:avLst>
              <a:gd name="adj" fmla="val 8065"/>
            </a:avLst>
          </a:prstGeom>
          <a:solidFill>
            <a:srgbClr val="0E1538"/>
          </a:solidFill>
          <a:ln w="6350">
            <a:solidFill>
              <a:srgbClr val="E0A8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6440" y="2103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distance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806440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d(v) — current best estimate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669280" y="2670048"/>
            <a:ext cx="2788920" cy="566928"/>
          </a:xfrm>
          <a:prstGeom prst="roundRect">
            <a:avLst>
              <a:gd name="adj" fmla="val 8065"/>
            </a:avLst>
          </a:prstGeom>
          <a:solidFill>
            <a:srgbClr val="0E1538"/>
          </a:solidFill>
          <a:ln w="6350">
            <a:solidFill>
              <a:srgbClr val="E0A82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06440" y="27157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relaxation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806440" y="29626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d(v) ← d(u) + w(u,v) if shorter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669280" y="3282696"/>
            <a:ext cx="2788920" cy="566928"/>
          </a:xfrm>
          <a:prstGeom prst="roundRect">
            <a:avLst>
              <a:gd name="adj" fmla="val 8065"/>
            </a:avLst>
          </a:prstGeom>
          <a:solidFill>
            <a:srgbClr val="0E1538"/>
          </a:solidFill>
          <a:ln w="6350">
            <a:solidFill>
              <a:srgbClr val="E0A82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06440" y="33284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predecessor table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806440" y="35753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π(v) — used to rebuild the path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669280" y="3895344"/>
            <a:ext cx="2788920" cy="566928"/>
          </a:xfrm>
          <a:prstGeom prst="roundRect">
            <a:avLst>
              <a:gd name="adj" fmla="val 8065"/>
            </a:avLst>
          </a:prstGeom>
          <a:solidFill>
            <a:srgbClr val="0E1538"/>
          </a:solidFill>
          <a:ln w="6350">
            <a:solidFill>
              <a:srgbClr val="E0A82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806440" y="39410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806440" y="4187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next minimum-d node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— formal execution state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{S, A, B, C, D};  F = ∅;  Q = 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Initialization: d(s)=0;  ∀v ∈ V\{s}, d(v) = ∞;  π(v) = ⊥.</a:t>
            </a:r>
            <a:endParaRPr lang="en-US" sz="950" dirty="0"/>
          </a:p>
        </p:txBody>
      </p:sp>
      <p:pic>
        <p:nvPicPr>
          <p:cNvPr id="13" name="Image 0" descr="/home/claude/graph_ste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874520"/>
            <a:ext cx="3581400" cy="2148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/ 6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3716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983480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∅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{S, 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S  (because d(S) = 0)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</p:sp>
      <p:sp>
        <p:nvSpPr>
          <p:cNvPr id="26" name="Text 21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d(u) + w(u,v) &lt; d(v),  d(v) ← d(u) + w(u,v),  π(v) ← u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select 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{S};  Q = {A, B, C, D}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← F ∪ {S};  relax (S,A) and (S,B):  d(A) = 1, d(B) = 4.</a:t>
            </a:r>
            <a:endParaRPr lang="en-US" sz="950" dirty="0"/>
          </a:p>
        </p:txBody>
      </p:sp>
      <p:pic>
        <p:nvPicPr>
          <p:cNvPr id="13" name="Image 0" descr="/home/claude/graph_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874520"/>
            <a:ext cx="3581400" cy="2148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4201668"/>
            <a:ext cx="39624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83480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{A,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S  (d(S) = 0 is the minimum in Q)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d(u) + w(u,v) &lt; d(v),  d(v) ← d(u)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select 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{S, A};  Q = {B, C, D}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← F ∪ {A};  relax A→B, A→C, A→D.  B improves: 4 → 3.</a:t>
            </a:r>
            <a:endParaRPr lang="en-US" sz="950" dirty="0"/>
          </a:p>
        </p:txBody>
      </p:sp>
      <p:pic>
        <p:nvPicPr>
          <p:cNvPr id="13" name="Image 0" descr="/home/claude/graph_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874520"/>
            <a:ext cx="3581400" cy="2148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4201668"/>
            <a:ext cx="79248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83480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{S, A}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{B,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A  (d(A) = 1 is the minimum in Q)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d(u) + w(u,v) &lt; d(v),  d(v) ← d(u)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select B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{S, A, B};  Q = {C, D}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← F ∪ {B};  relax B→C and B→D.  C improves: 6 → 4;  D improves: 13 → 10.</a:t>
            </a:r>
            <a:endParaRPr lang="en-US" sz="950" dirty="0"/>
          </a:p>
        </p:txBody>
      </p:sp>
      <p:pic>
        <p:nvPicPr>
          <p:cNvPr id="13" name="Image 0" descr="/home/claude/graph_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874520"/>
            <a:ext cx="3581400" cy="2148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4201668"/>
            <a:ext cx="118872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83480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{S, A, B}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{C,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B  (d(B) = 3 is the minimum in Q)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d(u) + w(u,v) &lt; d(v),  d(v) ← d(u)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select C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{S, A, B, C};  Q = {D}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← F ∪ {C};  relax C→D.  D improves: 10 → 7.</a:t>
            </a:r>
            <a:endParaRPr lang="en-US" sz="950" dirty="0"/>
          </a:p>
        </p:txBody>
      </p:sp>
      <p:pic>
        <p:nvPicPr>
          <p:cNvPr id="13" name="Image 0" descr="/home/claude/graph_ste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874520"/>
            <a:ext cx="3581400" cy="2148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4201668"/>
            <a:ext cx="158496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83480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{S, A, B, C}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{D}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C  (d(C) = 4 is the minimum in Q)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d(u) + w(u,v) &lt; d(v),  d(v) ← d(u)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select 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{S, A, B, C, D};  Q = ∅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← F ∪ {D};  Q = ∅.  Stop: the destination is settled.</a:t>
            </a:r>
            <a:endParaRPr lang="en-US" sz="950" dirty="0"/>
          </a:p>
        </p:txBody>
      </p:sp>
      <p:pic>
        <p:nvPicPr>
          <p:cNvPr id="13" name="Image 0" descr="/home/claude/graph_ste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874520"/>
            <a:ext cx="3581400" cy="2148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4201668"/>
            <a:ext cx="198120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83480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{S, 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∅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D  (d(D) = 7 is the minimum in Q)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d(u) + w(u,v) &lt; d(v),  d(v) ← d(u)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— reconstruct the path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D9EFE1"/>
          </a:solidFill>
          <a:ln w="12700">
            <a:solidFill>
              <a:srgbClr val="2C8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 = ⟨S, A, B, C, D⟩;   w(P) = 1 + 2 + 1 + 3 = 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path: S → A → B → C → D.  Total cost: d(D) = 7.</a:t>
            </a:r>
            <a:endParaRPr lang="en-US" sz="950" dirty="0"/>
          </a:p>
        </p:txBody>
      </p:sp>
      <p:pic>
        <p:nvPicPr>
          <p:cNvPr id="13" name="Image 0" descr="/home/claude/graph_ste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874520"/>
            <a:ext cx="3581400" cy="2148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83480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{S, A, B, C, D}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∅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rebuild: π(D)=C, π(C)=B, π(B)=A, π(A)=S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d(u) + w(u,v) &lt; d(v),  d(v) ← d(u)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188720"/>
            <a:ext cx="64008" cy="5029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188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1188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computes shortest paths from a source node s in a graph with non-negative edge weights.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828800"/>
            <a:ext cx="521208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1920240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192024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544" y="1920240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1828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 ·  Dijkstra(G, s, 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22128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∈ V: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23682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d(v) ←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∞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5237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π(v) ←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28346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d(s) ←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990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← priority queue containing 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30098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is not empty: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4564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← </a:t>
            </a: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extract_min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6118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d: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92277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(u, v) ∈ 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07822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d(u) + w(u,v) &lt; d(v):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233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d(v) ← d(u) + w(u,v)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3891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π(v) ← u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5445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decrease_key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(Q, v)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52160" y="1828800"/>
            <a:ext cx="2880360" cy="292608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1680"/>
            <a:ext cx="320040" cy="3200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446520" y="1965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&amp; complexity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080760" y="2532888"/>
            <a:ext cx="109728" cy="109728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37" name="Text 34"/>
          <p:cNvSpPr/>
          <p:nvPr/>
        </p:nvSpPr>
        <p:spPr>
          <a:xfrm>
            <a:off x="626364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26364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non-negative weights w(u,v) ≥ 0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080760" y="3246120"/>
            <a:ext cx="109728" cy="109728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40" name="Text 37"/>
          <p:cNvSpPr/>
          <p:nvPr/>
        </p:nvSpPr>
        <p:spPr>
          <a:xfrm>
            <a:off x="6263640" y="3182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26364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6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O((|V| + |E|) log |V|)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6263640" y="3685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adjacency list &amp; binary heap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080760" y="4178808"/>
            <a:ext cx="109728" cy="109728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44" name="Text 41"/>
          <p:cNvSpPr/>
          <p:nvPr/>
        </p:nvSpPr>
        <p:spPr>
          <a:xfrm>
            <a:off x="626364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626364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6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O(|V| + |E|)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checks throughout the session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" y="118872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252" y="129844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4924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BEGINNING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34924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vote on the best route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00884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00884" y="118872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804" y="1298448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65476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ACTIVITY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2665476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complete the Dijkstra execution table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31436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31436" y="118872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356" y="1298448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96028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FORMALIZATION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796028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questions on distance updates and finalized nodes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761988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61988" y="118872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7908" y="1298448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2658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692658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quiz to verify the key concepts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57200" y="242316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60604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51560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85800" y="306324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95528" y="3214116"/>
            <a:ext cx="201168" cy="201168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35" name="Text 28"/>
          <p:cNvSpPr/>
          <p:nvPr/>
        </p:nvSpPr>
        <p:spPr>
          <a:xfrm>
            <a:off x="1097280" y="3063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routing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2304288" y="306324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2414016" y="3214116"/>
            <a:ext cx="201168" cy="201168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38" name="Text 31"/>
          <p:cNvSpPr/>
          <p:nvPr/>
        </p:nvSpPr>
        <p:spPr>
          <a:xfrm>
            <a:off x="2715768" y="3063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routing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922776" y="306324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4032504" y="3214116"/>
            <a:ext cx="201168" cy="201168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41" name="Text 34"/>
          <p:cNvSpPr/>
          <p:nvPr/>
        </p:nvSpPr>
        <p:spPr>
          <a:xfrm>
            <a:off x="4334256" y="3063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navigation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85800" y="367588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95528" y="3826764"/>
            <a:ext cx="201168" cy="201168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44" name="Text 37"/>
          <p:cNvSpPr/>
          <p:nvPr/>
        </p:nvSpPr>
        <p:spPr>
          <a:xfrm>
            <a:off x="1097280" y="367588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optimization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2304288" y="367588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2414016" y="3826764"/>
            <a:ext cx="201168" cy="201168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47" name="Text 40"/>
          <p:cNvSpPr/>
          <p:nvPr/>
        </p:nvSpPr>
        <p:spPr>
          <a:xfrm>
            <a:off x="2715768" y="367588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AI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5806440" y="242316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</p:spPr>
      </p:sp>
      <p:sp>
        <p:nvSpPr>
          <p:cNvPr id="49" name="Shape 42"/>
          <p:cNvSpPr/>
          <p:nvPr/>
        </p:nvSpPr>
        <p:spPr>
          <a:xfrm>
            <a:off x="5806440" y="2423160"/>
            <a:ext cx="73152" cy="2057400"/>
          </a:xfrm>
          <a:prstGeom prst="rect">
            <a:avLst/>
          </a:prstGeom>
          <a:solidFill>
            <a:srgbClr val="E0A82E"/>
          </a:solidFill>
          <a:ln/>
        </p:spPr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2587752"/>
            <a:ext cx="292608" cy="29260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446520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extension</a:t>
            </a:r>
            <a:endParaRPr lang="en-US" sz="1300" dirty="0"/>
          </a:p>
        </p:txBody>
      </p:sp>
      <p:sp>
        <p:nvSpPr>
          <p:cNvPr id="52" name="Text 44"/>
          <p:cNvSpPr/>
          <p:nvPr/>
        </p:nvSpPr>
        <p:spPr>
          <a:xfrm>
            <a:off x="6035040" y="30175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follow-up activity, students implement Dijkstra's algorithm and evaluate it on a real-world Wireless Sensor Network dataset.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6035040" y="3840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“WSN-MERLIN”</a:t>
            </a: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Multi-Metric Wireless Sensor Network Dataset for Environment sensing, Routing, Energy, and Anomaly Analysis.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65760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" y="365760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" y="365760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66928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566928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566928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566928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768096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768096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" y="768096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" y="768096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06375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6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068261" y="2710683"/>
            <a:ext cx="548640" cy="6346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98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very welcome.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3D4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8143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Dijkstra's Algorithm through Problem-Based Inductive Learning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48143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  ·  Master's in Computer Science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2520</Words>
  <Application>Microsoft Office PowerPoint</Application>
  <PresentationFormat>On-screen Show (16:9)</PresentationFormat>
  <Paragraphs>543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Dijkstra's Algorithm</dc:title>
  <dc:subject>PptxGenJS Presentation</dc:subject>
  <dc:creator>MCF Audition</dc:creator>
  <cp:lastModifiedBy>Mehdi Salim BENHELAL MEHDI</cp:lastModifiedBy>
  <cp:revision>4</cp:revision>
  <dcterms:created xsi:type="dcterms:W3CDTF">2026-05-19T20:42:20Z</dcterms:created>
  <dcterms:modified xsi:type="dcterms:W3CDTF">2026-05-19T21:17:34Z</dcterms:modified>
</cp:coreProperties>
</file>