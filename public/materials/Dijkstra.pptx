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  <p:sldId id="276" r:id="rId20"/>
    <p:sldId id="274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144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7923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6520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9977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411480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7744968" y="411480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991856" y="411480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8238744" y="411480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485632" y="411480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732520" y="411480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498080" y="658368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7744968" y="658368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991856" y="658368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238744" y="658368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8485632" y="658368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732520" y="658368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7498080" y="905256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744968" y="905256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991856" y="905256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238744" y="905256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485632" y="905256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732520" y="905256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498080" y="1152144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7744968" y="1152144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991856" y="1152144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238744" y="1152144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485632" y="1152144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732520" y="1152144"/>
            <a:ext cx="109728" cy="109728"/>
          </a:xfrm>
          <a:prstGeom prst="ellipse">
            <a:avLst/>
          </a:prstGeom>
          <a:solidFill>
            <a:srgbClr val="E0A82E">
              <a:alpha val="7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409014" y="7471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1  ·  COMPUTER SCIENCE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3990" y="1993091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 in a Directed Weighted Graph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640080" y="3177941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 </a:t>
            </a:r>
            <a:r>
              <a:rPr lang="en-US" sz="1900" i="1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</a:t>
            </a: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Algorithm  through  Problem-Based  Inductive  Learning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671612" y="4033011"/>
            <a:ext cx="548640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671612" y="4257455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F0C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PEDAGOGICAL SESSION PRESENTED FOR THE MCF AUDITION</a:t>
            </a:r>
            <a:endParaRPr lang="en-US" sz="1200" dirty="0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9" y="502919"/>
            <a:ext cx="721129" cy="721129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sp>
        <p:nvSpPr>
          <p:cNvPr id="41" name="Shape 38"/>
          <p:cNvSpPr/>
          <p:nvPr/>
        </p:nvSpPr>
        <p:spPr>
          <a:xfrm>
            <a:off x="640080" y="4759452"/>
            <a:ext cx="7863840" cy="0"/>
          </a:xfrm>
          <a:prstGeom prst="line">
            <a:avLst/>
          </a:prstGeom>
          <a:noFill/>
          <a:ln w="6350">
            <a:solidFill>
              <a:srgbClr val="CADCF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/>
          <p:cNvSpPr/>
          <p:nvPr/>
        </p:nvSpPr>
        <p:spPr>
          <a:xfrm>
            <a:off x="7772400" y="47960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314362" y="468787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Presented by Mr. BENHELAL </a:t>
            </a:r>
            <a:r>
              <a:rPr lang="en-US" sz="1200" dirty="0" err="1">
                <a:solidFill>
                  <a:schemeClr val="bg1"/>
                </a:solidFill>
              </a:rPr>
              <a:t>Mehdi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Salim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SESSION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at a glance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57200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417320"/>
            <a:ext cx="2606040" cy="54864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58368" y="16184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700784"/>
            <a:ext cx="338328" cy="33832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325880" y="161848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0A82E"/>
                </a:solidFill>
                <a:latin typeface="Berlin Sans FB Dem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900" dirty="0">
              <a:latin typeface="Berlin Sans FB Demi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58368" y="219456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First-year Master students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58368" y="2514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29184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3291840" y="1417320"/>
            <a:ext cx="2606040" cy="54864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3493008" y="16184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304" y="1700784"/>
            <a:ext cx="338328" cy="33832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160520" y="161848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0A82E"/>
                </a:solidFill>
                <a:latin typeface="Berlin Sans FB Dem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>
              <a:latin typeface="Berlin Sans FB Demi" pitchFamily="34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3493008" y="219456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3493008" y="2514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material delivered in English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12648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1"/>
          <p:cNvSpPr/>
          <p:nvPr/>
        </p:nvSpPr>
        <p:spPr>
          <a:xfrm>
            <a:off x="6126480" y="1417320"/>
            <a:ext cx="2606040" cy="54864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22"/>
          <p:cNvSpPr/>
          <p:nvPr/>
        </p:nvSpPr>
        <p:spPr>
          <a:xfrm>
            <a:off x="6327648" y="16184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944" y="1700784"/>
            <a:ext cx="338328" cy="33832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995160" y="161848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0A82E"/>
                </a:solidFill>
                <a:latin typeface="Berlin Sans FB Dem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>
              <a:latin typeface="Berlin Sans FB Demi" pitchFamily="34" charset="0"/>
            </a:endParaRPr>
          </a:p>
        </p:txBody>
      </p:sp>
      <p:sp>
        <p:nvSpPr>
          <p:cNvPr id="29" name="Text 24"/>
          <p:cNvSpPr/>
          <p:nvPr/>
        </p:nvSpPr>
        <p:spPr>
          <a:xfrm>
            <a:off x="6327648" y="219456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1h30 teaching session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6327648" y="2514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session, in-class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3291840" y="3035944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27"/>
          <p:cNvSpPr/>
          <p:nvPr/>
        </p:nvSpPr>
        <p:spPr>
          <a:xfrm>
            <a:off x="3291840" y="3035944"/>
            <a:ext cx="2606040" cy="54864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Shape 28"/>
          <p:cNvSpPr/>
          <p:nvPr/>
        </p:nvSpPr>
        <p:spPr>
          <a:xfrm>
            <a:off x="3493008" y="32371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5304" y="3319408"/>
            <a:ext cx="338328" cy="33832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4160520" y="323711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0A82E"/>
                </a:solidFill>
                <a:latin typeface="Berlin Sans FB Dem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900" dirty="0">
              <a:latin typeface="Berlin Sans FB Demi" pitchFamily="34" charset="0"/>
            </a:endParaRPr>
          </a:p>
        </p:txBody>
      </p:sp>
      <p:sp>
        <p:nvSpPr>
          <p:cNvPr id="36" name="Text 30"/>
          <p:cNvSpPr/>
          <p:nvPr/>
        </p:nvSpPr>
        <p:spPr>
          <a:xfrm>
            <a:off x="3493008" y="38131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Problem-based inductive</a:t>
            </a:r>
            <a:endParaRPr lang="en-US" sz="1400" dirty="0"/>
          </a:p>
        </p:txBody>
      </p:sp>
      <p:sp>
        <p:nvSpPr>
          <p:cNvPr id="37" name="Text 31"/>
          <p:cNvSpPr/>
          <p:nvPr/>
        </p:nvSpPr>
        <p:spPr>
          <a:xfrm>
            <a:off x="3493008" y="41332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→ formalization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57200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session, students will be able to: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4069080" cy="713232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594360" y="1911096"/>
            <a:ext cx="457200" cy="457200"/>
          </a:xfrm>
          <a:prstGeom prst="ellipse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70432" y="185623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routing problem as a directed weighted graph G = (V, E)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17720" y="1783080"/>
            <a:ext cx="4069080" cy="713232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4754880" y="1911096"/>
            <a:ext cx="457200" cy="457200"/>
          </a:xfrm>
          <a:prstGeom prst="ellipse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754880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30952" y="185623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Dijkstra's algorithm step by step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660904"/>
            <a:ext cx="4069080" cy="713232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594360" y="2788920"/>
            <a:ext cx="457200" cy="457200"/>
          </a:xfrm>
          <a:prstGeom prst="ellipse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9436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70432" y="273405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the shortest path using the predecessor function π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17720" y="2660904"/>
            <a:ext cx="4069080" cy="713232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754880" y="2788920"/>
            <a:ext cx="457200" cy="457200"/>
          </a:xfrm>
          <a:prstGeom prst="ellipse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75488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30952" y="273405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why the algorithm works for non-negative weights w(u,v)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3538728"/>
            <a:ext cx="4069080" cy="713232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594360" y="3666744"/>
            <a:ext cx="457200" cy="457200"/>
          </a:xfrm>
          <a:prstGeom prst="ellipse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59436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70432" y="361188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applications and limitations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CONTEXT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context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57200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 in a Directed Weighted Graph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1554480"/>
            <a:ext cx="4069080" cy="27432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57200" y="1554480"/>
            <a:ext cx="4069080" cy="54864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55648"/>
            <a:ext cx="320040" cy="3200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97280" y="171907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prerequisites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31520" y="21945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are expected to know: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1520" y="2514600"/>
            <a:ext cx="3520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graphs G = (V, 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vertices, edges and positive integer weights w(u,v)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lists and adjacency matrices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graph traversal (BFS, DFS)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617720" y="1554480"/>
            <a:ext cx="4069080" cy="27432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5"/>
          <p:cNvSpPr/>
          <p:nvPr/>
        </p:nvSpPr>
        <p:spPr>
          <a:xfrm>
            <a:off x="4892040" y="1681405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Pedagogical adaptation</a:t>
            </a: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808911" y="2323408"/>
            <a:ext cx="367006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300" dirty="0">
                <a:solidFill>
                  <a:srgbClr val="CADCFC"/>
                </a:solidFill>
                <a:latin typeface="Berlin Sans FB Demi" pitchFamily="34" charset="0"/>
                <a:ea typeface="Calibri" pitchFamily="34" charset="-122"/>
                <a:cs typeface="Calibri" pitchFamily="34" charset="-120"/>
              </a:rPr>
              <a:t>The opening example is contextualized through </a:t>
            </a:r>
            <a:r>
              <a:rPr lang="en-US" sz="1400" dirty="0">
                <a:solidFill>
                  <a:srgbClr val="CADCFC"/>
                </a:solidFill>
                <a:latin typeface="Berlin Sans FB Demi" pitchFamily="34" charset="0"/>
                <a:ea typeface="Calibri" pitchFamily="34" charset="-122"/>
                <a:cs typeface="Calibri" pitchFamily="34" charset="-120"/>
              </a:rPr>
              <a:t>connected-device</a:t>
            </a:r>
            <a:r>
              <a:rPr lang="en-US" sz="1300" dirty="0">
                <a:solidFill>
                  <a:srgbClr val="CADCFC"/>
                </a:solidFill>
                <a:latin typeface="Berlin Sans FB Demi" pitchFamily="34" charset="0"/>
                <a:ea typeface="Calibri" pitchFamily="34" charset="-122"/>
                <a:cs typeface="Calibri" pitchFamily="34" charset="-120"/>
              </a:rPr>
              <a:t> routing to make the algorithm meaningful for IoT-oriented students.</a:t>
            </a:r>
            <a:endParaRPr lang="en-US" sz="1300" dirty="0">
              <a:latin typeface="Berlin Sans FB Demi" pitchFamily="34" charset="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4907538" y="3610332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8"/>
          <p:cNvSpPr/>
          <p:nvPr/>
        </p:nvSpPr>
        <p:spPr>
          <a:xfrm>
            <a:off x="4907538" y="359483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IoT-oriented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PEDAGOGICAL APPROACH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Pedagogical choice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57200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Problem-based inductive approach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2900" y="15087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42900" y="1508760"/>
            <a:ext cx="2011680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8006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0060" y="1965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shortest-path algorithm is needed</a:t>
            </a:r>
            <a:endParaRPr lang="en-US" sz="1050" b="1" dirty="0"/>
          </a:p>
        </p:txBody>
      </p:sp>
      <p:sp>
        <p:nvSpPr>
          <p:cNvPr id="15" name="Shape 13"/>
          <p:cNvSpPr/>
          <p:nvPr/>
        </p:nvSpPr>
        <p:spPr>
          <a:xfrm>
            <a:off x="2491740" y="15087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2491740" y="1508760"/>
            <a:ext cx="2011680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262890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628900" y="1965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intuitive strategies may fail</a:t>
            </a:r>
            <a:endParaRPr lang="en-US" sz="1050" b="1" dirty="0"/>
          </a:p>
        </p:txBody>
      </p:sp>
      <p:sp>
        <p:nvSpPr>
          <p:cNvPr id="19" name="Shape 17"/>
          <p:cNvSpPr/>
          <p:nvPr/>
        </p:nvSpPr>
        <p:spPr>
          <a:xfrm>
            <a:off x="4640580" y="15087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640580" y="1508760"/>
            <a:ext cx="2011680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77774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77740" y="1965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formal algorithm solves the problem</a:t>
            </a:r>
            <a:endParaRPr lang="en-US" sz="1050" b="1" dirty="0"/>
          </a:p>
        </p:txBody>
      </p:sp>
      <p:sp>
        <p:nvSpPr>
          <p:cNvPr id="23" name="Shape 21"/>
          <p:cNvSpPr/>
          <p:nvPr/>
        </p:nvSpPr>
        <p:spPr>
          <a:xfrm>
            <a:off x="6789420" y="15087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789420" y="1508760"/>
            <a:ext cx="2011680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926580" y="1645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26580" y="1965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method transfers to realistic routing contexts</a:t>
            </a:r>
            <a:endParaRPr lang="en-US" sz="1050" b="1" dirty="0"/>
          </a:p>
        </p:txBody>
      </p:sp>
      <p:sp>
        <p:nvSpPr>
          <p:cNvPr id="27" name="Text 25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sequence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035808"/>
            <a:ext cx="365760" cy="36576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457200" y="3246120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32688" y="3081528"/>
            <a:ext cx="329184" cy="32918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932688" y="3081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3520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 concrete routing problem</a:t>
            </a:r>
            <a:endParaRPr lang="en-US" sz="950" b="1" dirty="0"/>
          </a:p>
        </p:txBody>
      </p:sp>
      <p:sp>
        <p:nvSpPr>
          <p:cNvPr id="33" name="Shape 31"/>
          <p:cNvSpPr/>
          <p:nvPr/>
        </p:nvSpPr>
        <p:spPr>
          <a:xfrm>
            <a:off x="1847088" y="3246120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2322576" y="3081528"/>
            <a:ext cx="329184" cy="32918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2322576" y="3081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938528" y="3520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students propose intuitive strategies</a:t>
            </a:r>
            <a:endParaRPr lang="en-US" sz="950" b="1" dirty="0"/>
          </a:p>
        </p:txBody>
      </p:sp>
      <p:sp>
        <p:nvSpPr>
          <p:cNvPr id="37" name="Shape 35"/>
          <p:cNvSpPr/>
          <p:nvPr/>
        </p:nvSpPr>
        <p:spPr>
          <a:xfrm>
            <a:off x="3236976" y="3246120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3712464" y="3081528"/>
            <a:ext cx="329184" cy="32918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3712464" y="3081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328416" y="3520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strategies and identify limitations</a:t>
            </a:r>
            <a:endParaRPr lang="en-US" sz="950" b="1" dirty="0"/>
          </a:p>
        </p:txBody>
      </p:sp>
      <p:sp>
        <p:nvSpPr>
          <p:cNvPr id="41" name="Shape 39"/>
          <p:cNvSpPr/>
          <p:nvPr/>
        </p:nvSpPr>
        <p:spPr>
          <a:xfrm>
            <a:off x="4626864" y="3246120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5102352" y="3081528"/>
            <a:ext cx="329184" cy="32918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5102352" y="3081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718304" y="3520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the need for a systematic algorithm</a:t>
            </a:r>
            <a:endParaRPr lang="en-US" sz="950" b="1" dirty="0"/>
          </a:p>
        </p:txBody>
      </p:sp>
      <p:sp>
        <p:nvSpPr>
          <p:cNvPr id="45" name="Shape 43"/>
          <p:cNvSpPr/>
          <p:nvPr/>
        </p:nvSpPr>
        <p:spPr>
          <a:xfrm>
            <a:off x="6016752" y="3246120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6492240" y="3081528"/>
            <a:ext cx="329184" cy="32918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Text 45"/>
          <p:cNvSpPr/>
          <p:nvPr/>
        </p:nvSpPr>
        <p:spPr>
          <a:xfrm>
            <a:off x="6492240" y="3081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108192" y="3520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Formalize Dijkstra's algorithm and validate it</a:t>
            </a:r>
            <a:endParaRPr lang="en-US" sz="950" b="1" dirty="0"/>
          </a:p>
        </p:txBody>
      </p:sp>
      <p:sp>
        <p:nvSpPr>
          <p:cNvPr id="49" name="Shape 47"/>
          <p:cNvSpPr/>
          <p:nvPr/>
        </p:nvSpPr>
        <p:spPr>
          <a:xfrm>
            <a:off x="7406640" y="3246120"/>
            <a:ext cx="12801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7882128" y="3081528"/>
            <a:ext cx="329184" cy="329184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Text 49"/>
          <p:cNvSpPr/>
          <p:nvPr/>
        </p:nvSpPr>
        <p:spPr>
          <a:xfrm>
            <a:off x="7882128" y="3081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498080" y="3520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applications and limitations</a:t>
            </a:r>
            <a:endParaRPr lang="en-US" sz="95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4099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 problem :  Connected-device routing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005066"/>
            <a:ext cx="457200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57200" y="1126728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188720"/>
            <a:ext cx="64008" cy="54864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63888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05840" y="112672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must be sent from a source device </a:t>
            </a:r>
            <a:r>
              <a:rPr 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 target gateway </a:t>
            </a:r>
            <a:r>
              <a:rPr lang="en-US" sz="1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We want to minimize total latency.</a:t>
            </a:r>
            <a:endParaRPr lang="en-US" sz="1400" dirty="0"/>
          </a:p>
        </p:txBody>
      </p:sp>
      <p:pic>
        <p:nvPicPr>
          <p:cNvPr id="14" name="Image 1" descr="/home/claude/iot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7114" y="1874520"/>
            <a:ext cx="5416658" cy="2418511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02920" y="1905210"/>
            <a:ext cx="164592" cy="164592"/>
          </a:xfrm>
          <a:prstGeom prst="ellipse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777240" y="179548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77240" y="2100798"/>
            <a:ext cx="2291424" cy="321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sensors, devices or gateways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02920" y="2687094"/>
            <a:ext cx="164592" cy="164592"/>
          </a:xfrm>
          <a:prstGeom prst="ellipse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5"/>
          <p:cNvSpPr/>
          <p:nvPr/>
        </p:nvSpPr>
        <p:spPr>
          <a:xfrm>
            <a:off x="777240" y="25618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edges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777240" y="28214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communication links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502920" y="3360492"/>
            <a:ext cx="164592" cy="164592"/>
          </a:xfrm>
          <a:prstGeom prst="ellipse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18"/>
          <p:cNvSpPr/>
          <p:nvPr/>
        </p:nvSpPr>
        <p:spPr>
          <a:xfrm>
            <a:off x="777240" y="323526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777240" y="349486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latency (ms)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502920" y="4002894"/>
            <a:ext cx="164592" cy="164592"/>
          </a:xfrm>
          <a:prstGeom prst="ellipse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1"/>
          <p:cNvSpPr/>
          <p:nvPr/>
        </p:nvSpPr>
        <p:spPr>
          <a:xfrm>
            <a:off x="777240" y="38776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777240" y="41372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total latency from</a:t>
            </a:r>
            <a:r>
              <a:rPr lang="en-US" sz="1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 </a:t>
            </a: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</a:t>
            </a:r>
            <a:r>
              <a:rPr lang="en-US" sz="1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and student activity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57200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57200" y="1164632"/>
            <a:ext cx="3657600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38" y="123623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0382" y="12560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E0A82E"/>
                </a:solidFill>
                <a:latin typeface="Bodoni MT Black" pitchFamily="18" charset="0"/>
                <a:ea typeface="Calibri" pitchFamily="34" charset="-122"/>
                <a:cs typeface="Calibri" pitchFamily="34" charset="-120"/>
              </a:rPr>
              <a:t>QUESTION TO STUDENTS</a:t>
            </a:r>
            <a:endParaRPr lang="en-US" sz="900" dirty="0">
              <a:latin typeface="Bodoni MT Black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80382" y="149660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route should the message follow?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873335"/>
              </p:ext>
            </p:extLst>
          </p:nvPr>
        </p:nvGraphicFramePr>
        <p:xfrm>
          <a:off x="457200" y="2124752"/>
          <a:ext cx="3657600" cy="15087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→ A →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→ B →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→ A → C →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→ A → B → C →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Shape 11"/>
          <p:cNvSpPr/>
          <p:nvPr/>
        </p:nvSpPr>
        <p:spPr>
          <a:xfrm>
            <a:off x="457200" y="3799346"/>
            <a:ext cx="3657600" cy="868680"/>
          </a:xfrm>
          <a:prstGeom prst="roundRect">
            <a:avLst>
              <a:gd name="adj" fmla="val 6316"/>
            </a:avLst>
          </a:prstGeom>
          <a:solidFill>
            <a:srgbClr val="D9EFE1"/>
          </a:solidFill>
          <a:ln w="12700">
            <a:solidFill>
              <a:srgbClr val="2C8C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2"/>
          <p:cNvSpPr/>
          <p:nvPr/>
        </p:nvSpPr>
        <p:spPr>
          <a:xfrm>
            <a:off x="594360" y="387249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C8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TAKEAWAY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94360" y="409195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4-edge path is the cheapest. “Fewest hops” fails because edge weights matter.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391442" y="40663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sequence:  1. Quick vote   →   2. Pair discussion   →   3. Cost comparison   →   4. Name the failed intuition</a:t>
            </a:r>
            <a:endParaRPr lang="en-US" sz="1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A89047B-49DC-476E-99D7-3EF3021DE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229" y="1005840"/>
            <a:ext cx="4556296" cy="27630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INTUITION TO FORMALIZATION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intuition to Dijkstra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57200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activity shows that students need to store: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4572000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64008" cy="59436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40080" y="182880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4008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16916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known distance from</a:t>
            </a:r>
            <a:r>
              <a:rPr lang="en-US" sz="14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each node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4572000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57200" y="2423160"/>
            <a:ext cx="64008" cy="59436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40080" y="256032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0080" y="2560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24231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predecessor of each node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154680"/>
            <a:ext cx="4572000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64008" cy="59436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40080" y="329184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4008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31546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node to process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886200"/>
            <a:ext cx="4572000" cy="59436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457200" y="3886200"/>
            <a:ext cx="64008" cy="59436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640080" y="402336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4008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97280" y="38862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distance updates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40680" y="1171674"/>
            <a:ext cx="3246120" cy="3479292"/>
          </a:xfrm>
          <a:prstGeom prst="roundRect">
            <a:avLst>
              <a:gd name="adj" fmla="val 225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307286"/>
            <a:ext cx="365760" cy="36576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6126480" y="126156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700" dirty="0"/>
          </a:p>
        </p:txBody>
      </p:sp>
      <p:sp>
        <p:nvSpPr>
          <p:cNvPr id="34" name="Shape 31"/>
          <p:cNvSpPr/>
          <p:nvPr/>
        </p:nvSpPr>
        <p:spPr>
          <a:xfrm>
            <a:off x="5669280" y="1809432"/>
            <a:ext cx="2788920" cy="566928"/>
          </a:xfrm>
          <a:prstGeom prst="roundRect">
            <a:avLst>
              <a:gd name="adj" fmla="val 8065"/>
            </a:avLst>
          </a:prstGeom>
          <a:solidFill>
            <a:srgbClr val="0E1538"/>
          </a:solidFill>
          <a:ln w="6350">
            <a:solidFill>
              <a:srgbClr val="E0A8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2"/>
          <p:cNvSpPr/>
          <p:nvPr/>
        </p:nvSpPr>
        <p:spPr>
          <a:xfrm>
            <a:off x="5806440" y="18551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tentative distance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5806440" y="210204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dist(v) — current best estimate</a:t>
            </a:r>
            <a:endParaRPr lang="en-US" sz="1200" b="1" dirty="0"/>
          </a:p>
        </p:txBody>
      </p:sp>
      <p:sp>
        <p:nvSpPr>
          <p:cNvPr id="37" name="Shape 34"/>
          <p:cNvSpPr/>
          <p:nvPr/>
        </p:nvSpPr>
        <p:spPr>
          <a:xfrm>
            <a:off x="5669280" y="2499570"/>
            <a:ext cx="2788920" cy="566928"/>
          </a:xfrm>
          <a:prstGeom prst="roundRect">
            <a:avLst>
              <a:gd name="adj" fmla="val 8065"/>
            </a:avLst>
          </a:prstGeom>
          <a:solidFill>
            <a:srgbClr val="0E1538"/>
          </a:solidFill>
          <a:ln w="6350">
            <a:solidFill>
              <a:srgbClr val="E0A8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5"/>
          <p:cNvSpPr/>
          <p:nvPr/>
        </p:nvSpPr>
        <p:spPr>
          <a:xfrm>
            <a:off x="5806440" y="254529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relaxation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5806440" y="279217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dist(v) ← dist(u) + w(u,v) if shorter</a:t>
            </a:r>
            <a:endParaRPr lang="en-US" sz="1200" b="1" dirty="0"/>
          </a:p>
        </p:txBody>
      </p:sp>
      <p:sp>
        <p:nvSpPr>
          <p:cNvPr id="40" name="Shape 37"/>
          <p:cNvSpPr/>
          <p:nvPr/>
        </p:nvSpPr>
        <p:spPr>
          <a:xfrm>
            <a:off x="5669280" y="3189708"/>
            <a:ext cx="2788920" cy="566928"/>
          </a:xfrm>
          <a:prstGeom prst="roundRect">
            <a:avLst>
              <a:gd name="adj" fmla="val 8065"/>
            </a:avLst>
          </a:prstGeom>
          <a:solidFill>
            <a:srgbClr val="0E1538"/>
          </a:solidFill>
          <a:ln w="6350">
            <a:solidFill>
              <a:srgbClr val="E0A8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8"/>
          <p:cNvSpPr/>
          <p:nvPr/>
        </p:nvSpPr>
        <p:spPr>
          <a:xfrm>
            <a:off x="5806440" y="32354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predecessor table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5806440" y="348231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π(v) — used to rebuild the path</a:t>
            </a:r>
            <a:endParaRPr lang="en-US" sz="1200" b="1" dirty="0"/>
          </a:p>
        </p:txBody>
      </p:sp>
      <p:sp>
        <p:nvSpPr>
          <p:cNvPr id="43" name="Shape 40"/>
          <p:cNvSpPr/>
          <p:nvPr/>
        </p:nvSpPr>
        <p:spPr>
          <a:xfrm>
            <a:off x="5669280" y="3895344"/>
            <a:ext cx="2788920" cy="566928"/>
          </a:xfrm>
          <a:prstGeom prst="roundRect">
            <a:avLst>
              <a:gd name="adj" fmla="val 8065"/>
            </a:avLst>
          </a:prstGeom>
          <a:solidFill>
            <a:srgbClr val="0E1538"/>
          </a:solidFill>
          <a:ln w="6350">
            <a:solidFill>
              <a:srgbClr val="E0A8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5806440" y="394106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5806440" y="41879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the node with minimum dist</a:t>
            </a:r>
            <a:endParaRPr lang="en-US" sz="12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0" descr="/home/claude/graph_step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56" y="1850882"/>
            <a:ext cx="4236462" cy="238379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— formal execution state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57200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65760" y="1188720"/>
            <a:ext cx="438912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02920" y="12252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{S, A, B, C, D};  F = ∅;  Q = V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14813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Initialization: dist(s)=0;  ∀v ∈ V\{s}, dist(v) = ∞;  π(v) = ⊥.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4201668"/>
            <a:ext cx="2377440" cy="7315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2834640" y="41102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/ 6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65760" y="436626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4466844"/>
            <a:ext cx="182880" cy="1828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31520" y="436626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1371600" y="43662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/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616" y="4466844"/>
            <a:ext cx="182880" cy="1828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737360" y="4366260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846320" y="1188720"/>
            <a:ext cx="4069080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8"/>
          <p:cNvSpPr/>
          <p:nvPr/>
        </p:nvSpPr>
        <p:spPr>
          <a:xfrm>
            <a:off x="4967982" y="120065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state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983480" y="141732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{S, A, B, C, D}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∅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V \ F = {S, A, B, C, D}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select: u = S  (because dist(S) = 0)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846320" y="2194560"/>
            <a:ext cx="4069080" cy="365760"/>
          </a:xfrm>
          <a:prstGeom prst="roundRect">
            <a:avLst>
              <a:gd name="adj" fmla="val 10000"/>
            </a:avLst>
          </a:prstGeom>
          <a:solidFill>
            <a:srgbClr val="DDE7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1"/>
          <p:cNvSpPr/>
          <p:nvPr/>
        </p:nvSpPr>
        <p:spPr>
          <a:xfrm>
            <a:off x="4983480" y="21945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Relaxation:  </a:t>
            </a: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dist(u) + w(u,v) &lt; dist(v),  dist(v) ← dist(u) + w(u,v),  π(v) ← u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4846320" y="26060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/ predecessor functions</a:t>
            </a:r>
            <a:endParaRPr lang="en-US" sz="10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834640"/>
          <a:ext cx="4069080" cy="149352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dist(v)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π(v)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∈ 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0" descr="/home/claude/graph_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56" y="1869480"/>
            <a:ext cx="4220964" cy="233218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select 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57200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65760" y="1188720"/>
            <a:ext cx="438912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02920" y="12252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{S};  Q = {A, B, C, D}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14813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← F ∪ {S};  relax (S,A) and (S,B):  dist(A) = 1, dist(B) = 4.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4201668"/>
            <a:ext cx="2377440" cy="7315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365760" y="4201668"/>
            <a:ext cx="396240" cy="73152"/>
          </a:xfrm>
          <a:prstGeom prst="roundRect">
            <a:avLst>
              <a:gd name="adj" fmla="val 50000"/>
            </a:avLst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2834640" y="41102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/ 6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436626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4466844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1520" y="436626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1371600" y="4366260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616" y="4466844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737360" y="43662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2286000" y="43662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/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4016" y="4466844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651760" y="4366260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846320" y="1188720"/>
            <a:ext cx="4069080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1"/>
          <p:cNvSpPr/>
          <p:nvPr/>
        </p:nvSpPr>
        <p:spPr>
          <a:xfrm>
            <a:off x="4967982" y="121615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state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983480" y="141732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{S, A, B, C, D}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{S}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V \ F = {A, B, C, D}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select: u = S  (dist(S) = 0 is the minimum in Q)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846320" y="2194560"/>
            <a:ext cx="4069080" cy="365760"/>
          </a:xfrm>
          <a:prstGeom prst="roundRect">
            <a:avLst>
              <a:gd name="adj" fmla="val 10000"/>
            </a:avLst>
          </a:prstGeom>
          <a:solidFill>
            <a:srgbClr val="DDE7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4"/>
          <p:cNvSpPr/>
          <p:nvPr/>
        </p:nvSpPr>
        <p:spPr>
          <a:xfrm>
            <a:off x="4983480" y="21945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Relaxation:  </a:t>
            </a: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dist(u) + w(u,v) &lt; dist(v),  dist(v) ← dist(u) + w(u,v),  π(v) ← u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4846320" y="26060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/ predecessor functions</a:t>
            </a:r>
            <a:endParaRPr lang="en-US" sz="10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834640"/>
          <a:ext cx="4069080" cy="149352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dist(v)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π(v)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∈ 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0" descr="/home/claude/graph_ste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56" y="1792224"/>
            <a:ext cx="4253130" cy="249460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select A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57200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65760" y="1188720"/>
            <a:ext cx="438912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02920" y="12252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{S, A};  Q = {B, C, D}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14813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← F ∪ {A};  relax A→B, A→C, A→D.  B improves: 4 → 3.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4201668"/>
            <a:ext cx="2377440" cy="7315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365760" y="4201668"/>
            <a:ext cx="792480" cy="73152"/>
          </a:xfrm>
          <a:prstGeom prst="roundRect">
            <a:avLst>
              <a:gd name="adj" fmla="val 50000"/>
            </a:avLst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2834640" y="41102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/ 6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436626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4466844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1520" y="436626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1371600" y="4366260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616" y="4466844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737360" y="43662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2286000" y="43662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/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4016" y="4466844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651760" y="4366260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846320" y="1188720"/>
            <a:ext cx="4069080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1"/>
          <p:cNvSpPr/>
          <p:nvPr/>
        </p:nvSpPr>
        <p:spPr>
          <a:xfrm>
            <a:off x="4967982" y="121615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state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983480" y="141732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{S, A, B, C, D}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{S, A}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V \ F = {B, C, D}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select: u = A  (dist(A) = 1 is the minimum in Q)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846320" y="2194560"/>
            <a:ext cx="4069080" cy="365760"/>
          </a:xfrm>
          <a:prstGeom prst="roundRect">
            <a:avLst>
              <a:gd name="adj" fmla="val 10000"/>
            </a:avLst>
          </a:prstGeom>
          <a:solidFill>
            <a:srgbClr val="DDE7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4"/>
          <p:cNvSpPr/>
          <p:nvPr/>
        </p:nvSpPr>
        <p:spPr>
          <a:xfrm>
            <a:off x="4983480" y="21945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Relaxation:  </a:t>
            </a: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dist(u) + w(u,v) &lt; dist(v),  dist(v) ← dist(u) + w(u,v),  π(v) ← u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4846320" y="26060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/ predecessor functions</a:t>
            </a:r>
            <a:endParaRPr lang="en-US" sz="10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834640"/>
          <a:ext cx="4069080" cy="149352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dist(v)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π(v)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∈ 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0" descr="/home/claude/graph_ste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56" y="1792224"/>
            <a:ext cx="4253130" cy="249460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select B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57200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65760" y="1188720"/>
            <a:ext cx="438912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02920" y="12252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{S, A, B};  Q = {C, D}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14813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← F ∪ {B};  relax B→C and B→D.  C improves: 6 → 4;  D improves: 13 → 10.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4201668"/>
            <a:ext cx="2377440" cy="7315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365760" y="4201668"/>
            <a:ext cx="1188720" cy="73152"/>
          </a:xfrm>
          <a:prstGeom prst="roundRect">
            <a:avLst>
              <a:gd name="adj" fmla="val 50000"/>
            </a:avLst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2834640" y="41102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/ 6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436626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4466844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1520" y="436626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1371600" y="4366260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616" y="4466844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737360" y="43662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2286000" y="43662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/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4016" y="4466844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651760" y="4366260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846320" y="1188720"/>
            <a:ext cx="4069080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1"/>
          <p:cNvSpPr/>
          <p:nvPr/>
        </p:nvSpPr>
        <p:spPr>
          <a:xfrm>
            <a:off x="4967982" y="121615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state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983480" y="141732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{S, A, B, C, D}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{S, A, B}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V \ F = {C, D}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select: u = B  (dist(B) = 3 is the minimum in Q)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846320" y="2194560"/>
            <a:ext cx="4069080" cy="365760"/>
          </a:xfrm>
          <a:prstGeom prst="roundRect">
            <a:avLst>
              <a:gd name="adj" fmla="val 10000"/>
            </a:avLst>
          </a:prstGeom>
          <a:solidFill>
            <a:srgbClr val="DDE7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4"/>
          <p:cNvSpPr/>
          <p:nvPr/>
        </p:nvSpPr>
        <p:spPr>
          <a:xfrm>
            <a:off x="4983480" y="21945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Relaxation:  </a:t>
            </a: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dist(u) + w(u,v) &lt; dist(v),  dist(v) ← dist(u) + w(u,v),  π(v) ← u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4846320" y="26060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/ predecessor functions</a:t>
            </a:r>
            <a:endParaRPr lang="en-US" sz="10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834640"/>
          <a:ext cx="4069080" cy="149352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dist(v)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π(v)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∈ 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0" descr="/home/claude/graph_step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56" y="1829875"/>
            <a:ext cx="4251960" cy="2388839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select C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57200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65760" y="1188720"/>
            <a:ext cx="438912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02920" y="12252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{S, A, B, C};  Q = {D}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14813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← F ∪ {C};  relax C→D.  D improves: 10 → 7.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4201668"/>
            <a:ext cx="2377440" cy="7315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365760" y="4201668"/>
            <a:ext cx="1584960" cy="73152"/>
          </a:xfrm>
          <a:prstGeom prst="roundRect">
            <a:avLst>
              <a:gd name="adj" fmla="val 50000"/>
            </a:avLst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2834640" y="41102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/ 6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436626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4466844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1520" y="436626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1371600" y="4366260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616" y="4466844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737360" y="43662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2286000" y="43662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/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4016" y="4466844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651760" y="4366260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846320" y="1188720"/>
            <a:ext cx="4069080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1"/>
          <p:cNvSpPr/>
          <p:nvPr/>
        </p:nvSpPr>
        <p:spPr>
          <a:xfrm>
            <a:off x="4983480" y="121615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state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983480" y="141732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{S, A, B, C, D}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{S, A, B, C}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V \ F = {D}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select: u = C  (dist(C) = 4 is the minimum in Q)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846320" y="2194560"/>
            <a:ext cx="4069080" cy="365760"/>
          </a:xfrm>
          <a:prstGeom prst="roundRect">
            <a:avLst>
              <a:gd name="adj" fmla="val 10000"/>
            </a:avLst>
          </a:prstGeom>
          <a:solidFill>
            <a:srgbClr val="DDE7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4"/>
          <p:cNvSpPr/>
          <p:nvPr/>
        </p:nvSpPr>
        <p:spPr>
          <a:xfrm>
            <a:off x="4983480" y="21945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Relaxation:  </a:t>
            </a: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dist(u) + w(u,v) &lt; dist(v),  dist(v) ← dist(u) + w(u,v),  π(v) ← u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4846320" y="26060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/ predecessor functions</a:t>
            </a:r>
            <a:endParaRPr lang="en-US" sz="10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834640"/>
          <a:ext cx="4069080" cy="149352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dist(v)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π(v)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∈ 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0" descr="/home/claude/graph_step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54" y="1833678"/>
            <a:ext cx="4203144" cy="2391156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select D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57200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65760" y="1188720"/>
            <a:ext cx="4389120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02920" y="12252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{S, A, B, C, D};  Q = ∅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14813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← F ∪ {D};  Q = ∅.  Stop: the target is settled.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4201668"/>
            <a:ext cx="2377440" cy="7315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365760" y="4201668"/>
            <a:ext cx="1981200" cy="73152"/>
          </a:xfrm>
          <a:prstGeom prst="roundRect">
            <a:avLst>
              <a:gd name="adj" fmla="val 50000"/>
            </a:avLst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2834640" y="41102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/ 6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436626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4466844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1520" y="436626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1371600" y="4366260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616" y="4466844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737360" y="43662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2286000" y="43662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/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4016" y="4466844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651760" y="4366260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846320" y="1188720"/>
            <a:ext cx="4069080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1"/>
          <p:cNvSpPr/>
          <p:nvPr/>
        </p:nvSpPr>
        <p:spPr>
          <a:xfrm>
            <a:off x="4967982" y="121615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state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983480" y="141732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{S, A, B, C, D}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{S, A, B, C, D}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V \ F = ∅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select: u = D  (dist(D) = 7 is the minimum in Q)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846320" y="2194560"/>
            <a:ext cx="4069080" cy="365760"/>
          </a:xfrm>
          <a:prstGeom prst="roundRect">
            <a:avLst>
              <a:gd name="adj" fmla="val 10000"/>
            </a:avLst>
          </a:prstGeom>
          <a:solidFill>
            <a:srgbClr val="DDE7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4"/>
          <p:cNvSpPr/>
          <p:nvPr/>
        </p:nvSpPr>
        <p:spPr>
          <a:xfrm>
            <a:off x="4983480" y="21945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Relaxation:  </a:t>
            </a: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dist(u) + w(u,v) &lt; dist(v),  dist(v) ← dist(u) + w(u,v),  π(v) ← u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4846320" y="26060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/ predecessor functions</a:t>
            </a:r>
            <a:endParaRPr lang="en-US" sz="10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834640"/>
          <a:ext cx="4069080" cy="149352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dist(v)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π(v)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∈ 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EXECUTION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 — reconstruct the path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57200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65760" y="1188720"/>
            <a:ext cx="4389120" cy="640080"/>
          </a:xfrm>
          <a:prstGeom prst="roundRect">
            <a:avLst>
              <a:gd name="adj" fmla="val 8571"/>
            </a:avLst>
          </a:prstGeom>
          <a:solidFill>
            <a:srgbClr val="D9EFE1"/>
          </a:solidFill>
          <a:ln w="12700">
            <a:solidFill>
              <a:srgbClr val="2C8C5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02920" y="12252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P = ⟨S, A, B, C, D⟩;   w(P) = 1 + 2 + 1 + 3 = 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148132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F3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path: S → A → B → C → D.  Total cost: dist(D) = 7.</a:t>
            </a:r>
            <a:endParaRPr lang="en-US" sz="1000" dirty="0"/>
          </a:p>
        </p:txBody>
      </p:sp>
      <p:pic>
        <p:nvPicPr>
          <p:cNvPr id="13" name="Image 0" descr="/home/claude/graph_step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756" y="1843524"/>
            <a:ext cx="4251960" cy="239115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65760" y="4201668"/>
            <a:ext cx="2377440" cy="73152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365760" y="4201668"/>
            <a:ext cx="2377440" cy="73152"/>
          </a:xfrm>
          <a:prstGeom prst="roundRect">
            <a:avLst>
              <a:gd name="adj" fmla="val 50000"/>
            </a:avLst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2834640" y="41102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/ 6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" y="4366260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4466844"/>
            <a:ext cx="182880" cy="1828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1520" y="4366260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1371600" y="4366260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616" y="4466844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737360" y="43662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2286000" y="43662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16A34A"/>
          </a:solidFill>
          <a:ln/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4016" y="4466844"/>
            <a:ext cx="18288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651760" y="4366260"/>
            <a:ext cx="795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846320" y="1188720"/>
            <a:ext cx="4069080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1"/>
          <p:cNvSpPr/>
          <p:nvPr/>
        </p:nvSpPr>
        <p:spPr>
          <a:xfrm>
            <a:off x="4983480" y="121615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state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983480" y="141732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{S, A, B, C, D}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{S, A, B, C, D}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V \ F = ∅</a:t>
            </a:r>
            <a:endParaRPr lang="en-US" sz="10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rebuild: π(D)=C, π(C)=B, π(B)=A, π(A)=S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846320" y="2194560"/>
            <a:ext cx="4069080" cy="365760"/>
          </a:xfrm>
          <a:prstGeom prst="roundRect">
            <a:avLst>
              <a:gd name="adj" fmla="val 10000"/>
            </a:avLst>
          </a:prstGeom>
          <a:solidFill>
            <a:srgbClr val="DDE7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4"/>
          <p:cNvSpPr/>
          <p:nvPr/>
        </p:nvSpPr>
        <p:spPr>
          <a:xfrm>
            <a:off x="4983480" y="21945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Relaxation:  </a:t>
            </a:r>
            <a:r>
              <a:rPr lang="en-US" sz="9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dist(u) + w(u,v) &lt; dist(v),  dist(v) ← dist(u) + w(u,v),  π(v) ← u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4846320" y="2606040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/ predecessor functions</a:t>
            </a:r>
            <a:endParaRPr lang="en-US" sz="105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834640"/>
          <a:ext cx="4069080" cy="149352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dist(v)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π(v)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∈ 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C8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57200" y="1051560"/>
            <a:ext cx="457200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8229600" cy="50292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188720"/>
            <a:ext cx="64008" cy="5029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40080" y="11887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81502" y="11887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computes shortest paths from a source node s in a graph with non-negative edge weights.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1828800"/>
            <a:ext cx="5212080" cy="292608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57200" y="1828800"/>
            <a:ext cx="5212080" cy="29260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94360" y="1920240"/>
            <a:ext cx="118872" cy="118872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58952" y="1920240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923544" y="1920240"/>
            <a:ext cx="118872" cy="118872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143000" y="18288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 ·  Dijkstra(G, s, t)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221284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∈ V: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236829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dist(v) ← </a:t>
            </a: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∞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252374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π(v) ← </a:t>
            </a: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⊥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28346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dist(s) ← </a:t>
            </a: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299008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← min-priority queue(V, dist)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30098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is not empty: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4564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 ← </a:t>
            </a: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extract_min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(Q)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36118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= t: </a:t>
            </a: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3922776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(u, v) ∈ E: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07822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dist(u) + w(u,v) &lt; dist(v):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423367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dist(v) ← dist(u) + w(u,v)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43891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π(v) ← u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45445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decrease_key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(Q, v)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52160" y="1828800"/>
            <a:ext cx="2880360" cy="2926080"/>
          </a:xfrm>
          <a:prstGeom prst="roundRect">
            <a:avLst>
              <a:gd name="adj" fmla="val 254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011680"/>
            <a:ext cx="320040" cy="32004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6446520" y="1965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&amp; complexity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080760" y="2532888"/>
            <a:ext cx="109728" cy="109728"/>
          </a:xfrm>
          <a:prstGeom prst="ellipse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7" name="Text 34"/>
          <p:cNvSpPr/>
          <p:nvPr/>
        </p:nvSpPr>
        <p:spPr>
          <a:xfrm>
            <a:off x="6263640" y="2468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626364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non-negative weights w(u,v) ≥ 0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6080760" y="3246120"/>
            <a:ext cx="109728" cy="109728"/>
          </a:xfrm>
          <a:prstGeom prst="ellipse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6263640" y="31821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6263640" y="34564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B6F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O((|V| + |E|) log |V|)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6263640" y="36850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adjacency list &amp; binary heap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6080760" y="4178808"/>
            <a:ext cx="109728" cy="109728"/>
          </a:xfrm>
          <a:prstGeom prst="ellipse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41"/>
          <p:cNvSpPr/>
          <p:nvPr/>
        </p:nvSpPr>
        <p:spPr>
          <a:xfrm>
            <a:off x="6263640" y="4114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complexity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6263640" y="4389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B6F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O(|V| + |E|)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APPLICATIONS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1072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checks throughout the session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31072" y="1051560"/>
            <a:ext cx="457200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65374" y="118872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65374" y="1188720"/>
            <a:ext cx="2011680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1294" y="1298448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29966" y="1298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BEGINNING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29966" y="171056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vote on the best route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390522" y="118872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2390522" y="1188720"/>
            <a:ext cx="2011680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6442" y="1298448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555114" y="1298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ACTIVITY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2555114" y="167903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complete the Dijkstra execution table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631436" y="118872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7"/>
          <p:cNvSpPr/>
          <p:nvPr/>
        </p:nvSpPr>
        <p:spPr>
          <a:xfrm>
            <a:off x="4631436" y="1188720"/>
            <a:ext cx="2011680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7356" y="1298448"/>
            <a:ext cx="228600" cy="228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796028" y="1298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FORMALIZATION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4796028" y="169479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questions on distance updates and finalized nodes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856584" y="1188720"/>
            <a:ext cx="201168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1"/>
          <p:cNvSpPr/>
          <p:nvPr/>
        </p:nvSpPr>
        <p:spPr>
          <a:xfrm>
            <a:off x="6856584" y="1188720"/>
            <a:ext cx="2011680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2504" y="1298448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21176" y="1298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</a:t>
            </a:r>
            <a:endParaRPr lang="en-US" sz="850" dirty="0"/>
          </a:p>
        </p:txBody>
      </p:sp>
      <p:sp>
        <p:nvSpPr>
          <p:cNvPr id="29" name="Text 23"/>
          <p:cNvSpPr/>
          <p:nvPr/>
        </p:nvSpPr>
        <p:spPr>
          <a:xfrm>
            <a:off x="7021176" y="167903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Exercise and quiz to verify the key concepts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173412" y="2423160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7462" y="2621806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88942" y="257608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323182" y="3079006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27"/>
          <p:cNvSpPr/>
          <p:nvPr/>
        </p:nvSpPr>
        <p:spPr>
          <a:xfrm>
            <a:off x="432910" y="3229882"/>
            <a:ext cx="201168" cy="201168"/>
          </a:xfrm>
          <a:prstGeom prst="ellipse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28"/>
          <p:cNvSpPr/>
          <p:nvPr/>
        </p:nvSpPr>
        <p:spPr>
          <a:xfrm>
            <a:off x="734662" y="3079006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routing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1941670" y="3079006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0"/>
          <p:cNvSpPr/>
          <p:nvPr/>
        </p:nvSpPr>
        <p:spPr>
          <a:xfrm>
            <a:off x="2051398" y="3229882"/>
            <a:ext cx="201168" cy="201168"/>
          </a:xfrm>
          <a:prstGeom prst="ellipse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31"/>
          <p:cNvSpPr/>
          <p:nvPr/>
        </p:nvSpPr>
        <p:spPr>
          <a:xfrm>
            <a:off x="2353150" y="3079006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routing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3560158" y="3079006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3"/>
          <p:cNvSpPr/>
          <p:nvPr/>
        </p:nvSpPr>
        <p:spPr>
          <a:xfrm>
            <a:off x="3669886" y="3229882"/>
            <a:ext cx="201168" cy="201168"/>
          </a:xfrm>
          <a:prstGeom prst="ellipse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4"/>
          <p:cNvSpPr/>
          <p:nvPr/>
        </p:nvSpPr>
        <p:spPr>
          <a:xfrm>
            <a:off x="3971638" y="3079006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navigation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323182" y="3691654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36"/>
          <p:cNvSpPr/>
          <p:nvPr/>
        </p:nvSpPr>
        <p:spPr>
          <a:xfrm>
            <a:off x="432910" y="3842530"/>
            <a:ext cx="201168" cy="201168"/>
          </a:xfrm>
          <a:prstGeom prst="ellipse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37"/>
          <p:cNvSpPr/>
          <p:nvPr/>
        </p:nvSpPr>
        <p:spPr>
          <a:xfrm>
            <a:off x="734662" y="3691654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optimization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1941670" y="3691654"/>
            <a:ext cx="1508760" cy="50292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39"/>
          <p:cNvSpPr/>
          <p:nvPr/>
        </p:nvSpPr>
        <p:spPr>
          <a:xfrm>
            <a:off x="2051398" y="3842530"/>
            <a:ext cx="201168" cy="201168"/>
          </a:xfrm>
          <a:prstGeom prst="ellipse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7" name="Text 40"/>
          <p:cNvSpPr/>
          <p:nvPr/>
        </p:nvSpPr>
        <p:spPr>
          <a:xfrm>
            <a:off x="2353150" y="3691654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AI</a:t>
            </a:r>
            <a:endParaRPr lang="en-US" sz="1100" dirty="0"/>
          </a:p>
        </p:txBody>
      </p:sp>
      <p:sp>
        <p:nvSpPr>
          <p:cNvPr id="48" name="Shape 41"/>
          <p:cNvSpPr/>
          <p:nvPr/>
        </p:nvSpPr>
        <p:spPr>
          <a:xfrm>
            <a:off x="5364992" y="2423160"/>
            <a:ext cx="3503272" cy="2057400"/>
          </a:xfrm>
          <a:prstGeom prst="roundRect">
            <a:avLst>
              <a:gd name="adj" fmla="val 355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9" name="Shape 42"/>
          <p:cNvSpPr/>
          <p:nvPr/>
        </p:nvSpPr>
        <p:spPr>
          <a:xfrm>
            <a:off x="5364992" y="2423160"/>
            <a:ext cx="73152" cy="205740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3592" y="2587752"/>
            <a:ext cx="292608" cy="292608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6005072" y="25420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 extension</a:t>
            </a:r>
            <a:endParaRPr lang="en-US" sz="1300" dirty="0"/>
          </a:p>
        </p:txBody>
      </p:sp>
      <p:sp>
        <p:nvSpPr>
          <p:cNvPr id="52" name="Text 44"/>
          <p:cNvSpPr/>
          <p:nvPr/>
        </p:nvSpPr>
        <p:spPr>
          <a:xfrm>
            <a:off x="5593592" y="30175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follow-up activity, students implement Dijkstra's algorithm and evaluate it on a real-world Wireless Sensor Network dataset.</a:t>
            </a:r>
            <a:endParaRPr lang="en-US" sz="1200" b="1" dirty="0"/>
          </a:p>
        </p:txBody>
      </p:sp>
      <p:sp>
        <p:nvSpPr>
          <p:cNvPr id="53" name="Text 45"/>
          <p:cNvSpPr/>
          <p:nvPr/>
        </p:nvSpPr>
        <p:spPr>
          <a:xfrm>
            <a:off x="5593592" y="3745884"/>
            <a:ext cx="3164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n-US" sz="1200" b="1" i="1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“WSN-MERLIN”</a:t>
            </a:r>
            <a:r>
              <a:rPr lang="en-US" sz="12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Multi-Metric Wireless Sensor Network Dataset for Environment sensing, Routing, Energy, and Anomaly Analysis.</a:t>
            </a:r>
            <a:endParaRPr lang="en-US" sz="1200" b="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APPLICATIONS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1072" y="376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&amp; Exercise</a:t>
            </a:r>
            <a:endParaRPr lang="en-US" sz="2800" dirty="0"/>
          </a:p>
        </p:txBody>
      </p:sp>
      <p:sp>
        <p:nvSpPr>
          <p:cNvPr id="80" name="Accent line"/>
          <p:cNvSpPr/>
          <p:nvPr/>
        </p:nvSpPr>
        <p:spPr>
          <a:xfrm>
            <a:off x="331072" y="815070"/>
            <a:ext cx="457200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1" name="Subtitle"/>
          <p:cNvSpPr/>
          <p:nvPr/>
        </p:nvSpPr>
        <p:spPr>
          <a:xfrm>
            <a:off x="331072" y="88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understanding through an interactive quiz and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guided Dijkstra exercise.</a:t>
            </a:r>
            <a:endParaRPr lang="en-US" sz="1400" dirty="0"/>
          </a:p>
        </p:txBody>
      </p:sp>
      <p:sp>
        <p:nvSpPr>
          <p:cNvPr id="82" name="Left caption"/>
          <p:cNvSpPr/>
          <p:nvPr/>
        </p:nvSpPr>
        <p:spPr>
          <a:xfrm>
            <a:off x="331072" y="134952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QUIZ</a:t>
            </a:r>
            <a:endParaRPr lang="en-US" sz="1200" dirty="0"/>
          </a:p>
        </p:txBody>
      </p:sp>
      <p:sp>
        <p:nvSpPr>
          <p:cNvPr id="83" name="Right caption"/>
          <p:cNvSpPr/>
          <p:nvPr/>
        </p:nvSpPr>
        <p:spPr>
          <a:xfrm>
            <a:off x="4674472" y="49927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DIJKSTRA EXERCISE</a:t>
            </a:r>
            <a:endParaRPr lang="en-US" sz="1200" dirty="0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5956CCEE-896F-4F4A-B46A-F176E7DF6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17" y="1627164"/>
            <a:ext cx="4540469" cy="30699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B3975E-546B-495F-85BD-1A05E2ED53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5225" y="807797"/>
            <a:ext cx="3184955" cy="383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1767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1441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APPLICATIONS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0" y="1645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4759452"/>
            <a:ext cx="82296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 |  Problem-Based Inductive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0" y="47960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in Computer Science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2949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Showcase</a:t>
            </a:r>
            <a:endParaRPr lang="en-US" sz="2800" dirty="0"/>
          </a:p>
        </p:txBody>
      </p:sp>
      <p:sp>
        <p:nvSpPr>
          <p:cNvPr id="90" name="Accent line"/>
          <p:cNvSpPr/>
          <p:nvPr/>
        </p:nvSpPr>
        <p:spPr>
          <a:xfrm>
            <a:off x="457200" y="878134"/>
            <a:ext cx="457200" cy="4572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1" name="Subtitle"/>
          <p:cNvSpPr/>
          <p:nvPr/>
        </p:nvSpPr>
        <p:spPr>
          <a:xfrm>
            <a:off x="457200" y="96043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learning space for practice, feedback, and follow-up resources.         Link:   https://benhelal.github.io/Dijkstra/</a:t>
            </a:r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627FA8-AE2B-4713-AA82-8E8BC720B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470"/>
            <a:ext cx="8229600" cy="337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875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91440" cy="91440"/>
          </a:xfrm>
          <a:prstGeom prst="ellipse">
            <a:avLst/>
          </a:prstGeom>
          <a:solidFill>
            <a:srgbClr val="E0A82E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66928" y="365760"/>
            <a:ext cx="91440" cy="91440"/>
          </a:xfrm>
          <a:prstGeom prst="ellipse">
            <a:avLst/>
          </a:prstGeom>
          <a:solidFill>
            <a:srgbClr val="E0A82E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68096" y="365760"/>
            <a:ext cx="91440" cy="91440"/>
          </a:xfrm>
          <a:prstGeom prst="ellipse">
            <a:avLst/>
          </a:prstGeom>
          <a:solidFill>
            <a:srgbClr val="E0A82E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969264" y="365760"/>
            <a:ext cx="91440" cy="91440"/>
          </a:xfrm>
          <a:prstGeom prst="ellipse">
            <a:avLst/>
          </a:prstGeom>
          <a:solidFill>
            <a:srgbClr val="E0A82E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365760" y="566928"/>
            <a:ext cx="91440" cy="91440"/>
          </a:xfrm>
          <a:prstGeom prst="ellipse">
            <a:avLst/>
          </a:prstGeom>
          <a:solidFill>
            <a:srgbClr val="E0A82E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66928" y="566928"/>
            <a:ext cx="91440" cy="91440"/>
          </a:xfrm>
          <a:prstGeom prst="ellipse">
            <a:avLst/>
          </a:prstGeom>
          <a:solidFill>
            <a:srgbClr val="E0A82E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68096" y="566928"/>
            <a:ext cx="91440" cy="91440"/>
          </a:xfrm>
          <a:prstGeom prst="ellipse">
            <a:avLst/>
          </a:prstGeom>
          <a:solidFill>
            <a:srgbClr val="E0A82E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969264" y="566928"/>
            <a:ext cx="91440" cy="91440"/>
          </a:xfrm>
          <a:prstGeom prst="ellipse">
            <a:avLst/>
          </a:prstGeom>
          <a:solidFill>
            <a:srgbClr val="E0A82E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65760" y="768096"/>
            <a:ext cx="91440" cy="91440"/>
          </a:xfrm>
          <a:prstGeom prst="ellipse">
            <a:avLst/>
          </a:prstGeom>
          <a:solidFill>
            <a:srgbClr val="E0A82E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566928" y="768096"/>
            <a:ext cx="91440" cy="91440"/>
          </a:xfrm>
          <a:prstGeom prst="ellipse">
            <a:avLst/>
          </a:prstGeom>
          <a:solidFill>
            <a:srgbClr val="E0A82E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68096" y="768096"/>
            <a:ext cx="91440" cy="91440"/>
          </a:xfrm>
          <a:prstGeom prst="ellipse">
            <a:avLst/>
          </a:prstGeom>
          <a:solidFill>
            <a:srgbClr val="E0A82E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69264" y="768096"/>
            <a:ext cx="91440" cy="91440"/>
          </a:xfrm>
          <a:prstGeom prst="ellipse">
            <a:avLst/>
          </a:prstGeom>
          <a:solidFill>
            <a:srgbClr val="E0A82E">
              <a:alpha val="6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" y="1606375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kern="0" spc="16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3705642" y="2332299"/>
            <a:ext cx="1418139" cy="63462"/>
          </a:xfrm>
          <a:prstGeom prst="rect">
            <a:avLst/>
          </a:prstGeom>
          <a:solidFill>
            <a:srgbClr val="E0A8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00251" y="297985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very welcome.</a:t>
            </a:r>
            <a:endParaRPr lang="en-US" b="1" dirty="0"/>
          </a:p>
        </p:txBody>
      </p:sp>
      <p:sp>
        <p:nvSpPr>
          <p:cNvPr id="39" name="Shape 37"/>
          <p:cNvSpPr/>
          <p:nvPr/>
        </p:nvSpPr>
        <p:spPr>
          <a:xfrm>
            <a:off x="457200" y="4777740"/>
            <a:ext cx="8229600" cy="0"/>
          </a:xfrm>
          <a:prstGeom prst="line">
            <a:avLst/>
          </a:prstGeom>
          <a:noFill/>
          <a:ln w="6350">
            <a:solidFill>
              <a:srgbClr val="3D4A8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57200" y="481431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Dijkstra's Algorithm through Problem-Based Inductive Learning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0" y="48143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0A8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  ·  Master's in Computer Science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2493</Words>
  <Application>Microsoft Office PowerPoint</Application>
  <PresentationFormat>On-screen Show (16:9)</PresentationFormat>
  <Paragraphs>527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Berlin Sans FB Demi</vt:lpstr>
      <vt:lpstr>Bodoni MT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Teaching Dijkstra's Algorithm</dc:title>
  <dc:subject>PptxGenJS Presentation</dc:subject>
  <dc:creator>MCF Audition</dc:creator>
  <cp:lastModifiedBy>Mehdi Salim BENHELAL MEHDI</cp:lastModifiedBy>
  <cp:revision>29</cp:revision>
  <dcterms:created xsi:type="dcterms:W3CDTF">2026-05-19T20:42:20Z</dcterms:created>
  <dcterms:modified xsi:type="dcterms:W3CDTF">2026-05-21T01:40:48Z</dcterms:modified>
</cp:coreProperties>
</file>